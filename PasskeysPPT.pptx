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7" r:id="rId4"/>
    <p:sldId id="258" r:id="rId5"/>
    <p:sldId id="338" r:id="rId6"/>
    <p:sldId id="260" r:id="rId7"/>
    <p:sldId id="261" r:id="rId8"/>
    <p:sldId id="265" r:id="rId9"/>
  </p:sldIdLst>
  <p:sldSz cx="24387175" cy="13716000"/>
  <p:notesSz cx="13716000" cy="24387175"/>
  <p:embeddedFontLst>
    <p:embeddedFont>
      <p:font typeface="Poppins" panose="000005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j+hSNzPzaNMuvHTqtLiwBBPZjX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>
      <p:cViewPr varScale="1">
        <p:scale>
          <a:sx n="53" d="100"/>
          <a:sy n="53" d="100"/>
        </p:scale>
        <p:origin x="5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92" Type="http://customschemas.google.com/relationships/presentationmetadata" Target="metadata"/><Relationship Id="rId2" Type="http://schemas.openxmlformats.org/officeDocument/2006/relationships/slide" Target="slides/slide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9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9025"/>
            <a:ext cx="9144450" cy="9145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8788" y="3048000"/>
            <a:ext cx="14633576" cy="8231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p1:notes"/>
          <p:cNvSpPr txBox="1"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>
          <a:extLst>
            <a:ext uri="{FF2B5EF4-FFF2-40B4-BE49-F238E27FC236}">
              <a16:creationId xmlns:a16="http://schemas.microsoft.com/office/drawing/2014/main" id="{FA4987C8-4507-98E2-D3B9-FA594937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:notes">
            <a:extLst>
              <a:ext uri="{FF2B5EF4-FFF2-40B4-BE49-F238E27FC236}">
                <a16:creationId xmlns:a16="http://schemas.microsoft.com/office/drawing/2014/main" id="{D71211F8-AA6E-5926-857F-16D9862C0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:notes">
            <a:extLst>
              <a:ext uri="{FF2B5EF4-FFF2-40B4-BE49-F238E27FC236}">
                <a16:creationId xmlns:a16="http://schemas.microsoft.com/office/drawing/2014/main" id="{C6531E3E-2760-52D0-047E-4845F8B7C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5159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:notes"/>
          <p:cNvSpPr txBox="1">
            <a:spLocks noGrp="1"/>
          </p:cNvSpPr>
          <p:nvPr>
            <p:ph type="body" idx="1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71588" y="1828800"/>
            <a:ext cx="16260763" cy="914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8788" y="3048000"/>
            <a:ext cx="14633576" cy="8231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10:notes"/>
          <p:cNvSpPr txBox="1"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0"/>
        </a:gra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7175" cy="26482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84"/>
          <p:cNvSpPr txBox="1">
            <a:spLocks noGrp="1"/>
          </p:cNvSpPr>
          <p:nvPr>
            <p:ph type="body" idx="1"/>
          </p:nvPr>
        </p:nvSpPr>
        <p:spPr>
          <a:xfrm>
            <a:off x="1088058" y="1041400"/>
            <a:ext cx="11658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Arial"/>
              <a:buNone/>
              <a:defRPr sz="15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4"/>
          <p:cNvSpPr txBox="1">
            <a:spLocks noGrp="1"/>
          </p:cNvSpPr>
          <p:nvPr>
            <p:ph type="body" idx="2"/>
          </p:nvPr>
        </p:nvSpPr>
        <p:spPr>
          <a:xfrm>
            <a:off x="1088058" y="2921000"/>
            <a:ext cx="11658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Arial"/>
              <a:buNone/>
              <a:defRPr sz="150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" name="Google Shape;10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70317" y="10414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84" descr="A purple object with light beam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22730" y="3835400"/>
            <a:ext cx="24387175" cy="9554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6"/>
          <p:cNvSpPr txBox="1">
            <a:spLocks noGrp="1"/>
          </p:cNvSpPr>
          <p:nvPr>
            <p:ph type="body" idx="1"/>
          </p:nvPr>
        </p:nvSpPr>
        <p:spPr>
          <a:xfrm>
            <a:off x="1039108" y="6078642"/>
            <a:ext cx="7010400" cy="1289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8000"/>
              </a:lnSpc>
              <a:spcBef>
                <a:spcPts val="2000"/>
              </a:spcBef>
              <a:spcAft>
                <a:spcPts val="0"/>
              </a:spcAft>
              <a:buClr>
                <a:srgbClr val="0F0F0F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5" name="Google Shape;15;p86" descr="A purple square object with white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9175" y="186690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"/>
          <p:cNvSpPr txBox="1">
            <a:spLocks noGrp="1"/>
          </p:cNvSpPr>
          <p:nvPr>
            <p:ph type="body" idx="1"/>
          </p:nvPr>
        </p:nvSpPr>
        <p:spPr>
          <a:xfrm>
            <a:off x="1478226" y="1007154"/>
            <a:ext cx="17705886" cy="3172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None/>
            </a:pPr>
            <a:r>
              <a:rPr lang="en-US" dirty="0"/>
              <a:t>Going </a:t>
            </a:r>
            <a:r>
              <a:rPr lang="en-US" dirty="0" err="1"/>
              <a:t>Passwordless</a:t>
            </a:r>
            <a:endParaRPr dirty="0"/>
          </a:p>
        </p:txBody>
      </p:sp>
      <p:sp>
        <p:nvSpPr>
          <p:cNvPr id="530" name="Google Shape;530;p1"/>
          <p:cNvSpPr txBox="1">
            <a:spLocks noGrp="1"/>
          </p:cNvSpPr>
          <p:nvPr>
            <p:ph type="body" idx="2"/>
          </p:nvPr>
        </p:nvSpPr>
        <p:spPr>
          <a:xfrm>
            <a:off x="1606242" y="5943600"/>
            <a:ext cx="1178057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0"/>
              <a:buNone/>
            </a:pPr>
            <a:r>
              <a:rPr lang="en-US" sz="12000" dirty="0">
                <a:solidFill>
                  <a:schemeClr val="accent5"/>
                </a:solidFill>
              </a:rPr>
              <a:t>Passkeys </a:t>
            </a:r>
            <a:r>
              <a:rPr lang="en-US" sz="12000" dirty="0" err="1">
                <a:solidFill>
                  <a:schemeClr val="accent5"/>
                </a:solidFill>
              </a:rPr>
              <a:t>en</a:t>
            </a:r>
            <a:r>
              <a:rPr lang="en-US" sz="12000" dirty="0">
                <a:solidFill>
                  <a:schemeClr val="accent5"/>
                </a:solidFill>
              </a:rPr>
              <a:t> ASP.NET Core</a:t>
            </a:r>
            <a:endParaRPr sz="1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ódigo QR&#10;&#10;El contenido generado por IA puede ser incorrecto.">
            <a:extLst>
              <a:ext uri="{FF2B5EF4-FFF2-40B4-BE49-F238E27FC236}">
                <a16:creationId xmlns:a16="http://schemas.microsoft.com/office/drawing/2014/main" id="{1C6B4E2E-92B9-27C3-F468-06DF847544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58" t="34767" r="26010" b="8172"/>
          <a:stretch>
            <a:fillRect/>
          </a:stretch>
        </p:blipFill>
        <p:spPr>
          <a:xfrm>
            <a:off x="16740601" y="7719392"/>
            <a:ext cx="4810539" cy="4716582"/>
          </a:xfrm>
          <a:prstGeom prst="rect">
            <a:avLst/>
          </a:prstGeom>
        </p:spPr>
      </p:pic>
      <p:pic>
        <p:nvPicPr>
          <p:cNvPr id="5" name="Imagen 4" descr="Código QR&#10;&#10;El contenido generado por IA puede ser incorrecto.">
            <a:extLst>
              <a:ext uri="{FF2B5EF4-FFF2-40B4-BE49-F238E27FC236}">
                <a16:creationId xmlns:a16="http://schemas.microsoft.com/office/drawing/2014/main" id="{5A6F8BFA-AA5D-BFDD-F776-8BAE04DFE3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271" t="41620" r="23454" b="10345"/>
          <a:stretch>
            <a:fillRect/>
          </a:stretch>
        </p:blipFill>
        <p:spPr>
          <a:xfrm>
            <a:off x="3011954" y="7719392"/>
            <a:ext cx="4810539" cy="4671391"/>
          </a:xfrm>
          <a:prstGeom prst="rect">
            <a:avLst/>
          </a:prstGeom>
        </p:spPr>
      </p:pic>
      <p:pic>
        <p:nvPicPr>
          <p:cNvPr id="531" name="Google Shape;531;p1" descr="Interfaz de usuario gráfica, Aplicación&#10;&#10;El contenido generado por IA puede ser incorrecto."/>
          <p:cNvPicPr preferRelativeResize="0"/>
          <p:nvPr/>
        </p:nvPicPr>
        <p:blipFill rotWithShape="1">
          <a:blip r:embed="rId5">
            <a:alphaModFix/>
          </a:blip>
          <a:srcRect l="54881" t="38432" r="13069" b="30129"/>
          <a:stretch/>
        </p:blipFill>
        <p:spPr>
          <a:xfrm>
            <a:off x="16740601" y="1684604"/>
            <a:ext cx="4604531" cy="452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1" descr="Interfaz de usuario gráfica, Aplicación&#10;&#10;El contenido generado por IA puede ser incorrecto."/>
          <p:cNvPicPr preferRelativeResize="0"/>
          <p:nvPr/>
        </p:nvPicPr>
        <p:blipFill rotWithShape="1">
          <a:blip r:embed="rId5">
            <a:alphaModFix/>
          </a:blip>
          <a:srcRect l="11860" t="39036" r="58109" b="30866"/>
          <a:stretch/>
        </p:blipFill>
        <p:spPr>
          <a:xfrm>
            <a:off x="3187870" y="1708477"/>
            <a:ext cx="4458705" cy="4474929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"/>
          <p:cNvSpPr txBox="1"/>
          <p:nvPr/>
        </p:nvSpPr>
        <p:spPr>
          <a:xfrm>
            <a:off x="3187870" y="6599907"/>
            <a:ext cx="445870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Illari Alvarez-Gil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FULLSTACK DEVELOPER</a:t>
            </a:r>
            <a:endParaRPr dirty="0"/>
          </a:p>
        </p:txBody>
      </p:sp>
      <p:sp>
        <p:nvSpPr>
          <p:cNvPr id="534" name="Google Shape;534;p1"/>
          <p:cNvSpPr txBox="1"/>
          <p:nvPr/>
        </p:nvSpPr>
        <p:spPr>
          <a:xfrm>
            <a:off x="16636408" y="6599907"/>
            <a:ext cx="460453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Cristian Garrido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FULLSTACK DEVELOPER</a:t>
            </a:r>
            <a:endParaRPr dirty="0"/>
          </a:p>
        </p:txBody>
      </p:sp>
      <p:pic>
        <p:nvPicPr>
          <p:cNvPr id="4" name="Imagen 3" descr="Logotipo, nombre de la empresa">
            <a:extLst>
              <a:ext uri="{FF2B5EF4-FFF2-40B4-BE49-F238E27FC236}">
                <a16:creationId xmlns:a16="http://schemas.microsoft.com/office/drawing/2014/main" id="{7F139B79-4938-8397-9953-768A29505F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318" b="29482"/>
          <a:stretch>
            <a:fillRect/>
          </a:stretch>
        </p:blipFill>
        <p:spPr>
          <a:xfrm>
            <a:off x="8908260" y="5674617"/>
            <a:ext cx="6362271" cy="2366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"/>
          <p:cNvSpPr/>
          <p:nvPr/>
        </p:nvSpPr>
        <p:spPr>
          <a:xfrm>
            <a:off x="1042867" y="1092194"/>
            <a:ext cx="20286507" cy="179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Poppins"/>
              <a:buNone/>
            </a:pPr>
            <a:r>
              <a:rPr lang="en-US" sz="10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Problema actual: Contraseñas </a:t>
            </a:r>
            <a:endParaRPr sz="100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1" name="Google Shape;541;p2"/>
          <p:cNvSpPr txBox="1"/>
          <p:nvPr/>
        </p:nvSpPr>
        <p:spPr>
          <a:xfrm flipH="1">
            <a:off x="1042867" y="3779558"/>
            <a:ext cx="73964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542" name="Google Shape;542;p2"/>
          <p:cNvSpPr txBox="1"/>
          <p:nvPr/>
        </p:nvSpPr>
        <p:spPr>
          <a:xfrm>
            <a:off x="1042867" y="5144986"/>
            <a:ext cx="70104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0" u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80% de las brechas involucran contraseñas comprometidas</a:t>
            </a:r>
            <a:endParaRPr sz="3200" b="0" u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2"/>
          <p:cNvSpPr txBox="1"/>
          <p:nvPr/>
        </p:nvSpPr>
        <p:spPr>
          <a:xfrm flipH="1">
            <a:off x="9305598" y="3779559"/>
            <a:ext cx="73964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544" name="Google Shape;544;p2"/>
          <p:cNvSpPr txBox="1"/>
          <p:nvPr/>
        </p:nvSpPr>
        <p:spPr>
          <a:xfrm>
            <a:off x="9323509" y="5144986"/>
            <a:ext cx="7010400" cy="110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0" u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Reutilización, contraseñas débiles, filtraciones</a:t>
            </a:r>
            <a:endParaRPr sz="3200" b="0" u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5" name="Google Shape;545;p2"/>
          <p:cNvSpPr txBox="1"/>
          <p:nvPr/>
        </p:nvSpPr>
        <p:spPr>
          <a:xfrm>
            <a:off x="14550144" y="10416319"/>
            <a:ext cx="8945961" cy="83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Clr>
                <a:srgbClr val="BBA7F1"/>
              </a:buClr>
              <a:buSzPts val="3600"/>
              <a:buFont typeface="Arial"/>
              <a:buNone/>
            </a:pPr>
            <a:r>
              <a:rPr lang="en-US" sz="3600" b="0" u="none" dirty="0" err="1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Necesitamos</a:t>
            </a:r>
            <a:r>
              <a:rPr lang="en-US" sz="3600" b="0" u="none" dirty="0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0" u="none" dirty="0" err="1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3600" b="0" u="none" dirty="0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0" u="none" dirty="0" err="1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alternativa</a:t>
            </a:r>
            <a:r>
              <a:rPr lang="en-US" sz="3600" b="0" u="none" dirty="0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0" u="none" dirty="0" err="1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mejor</a:t>
            </a:r>
            <a:endParaRPr sz="3600" b="0" u="none" dirty="0">
              <a:solidFill>
                <a:srgbClr val="BBA7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"/>
          <p:cNvSpPr/>
          <p:nvPr/>
        </p:nvSpPr>
        <p:spPr>
          <a:xfrm>
            <a:off x="1042867" y="1092194"/>
            <a:ext cx="20286507" cy="179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Poppins"/>
              <a:buNone/>
            </a:pPr>
            <a:r>
              <a:rPr lang="en-US" sz="10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100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10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son las Passkeys?</a:t>
            </a:r>
            <a:endParaRPr dirty="0"/>
          </a:p>
        </p:txBody>
      </p:sp>
      <p:sp>
        <p:nvSpPr>
          <p:cNvPr id="551" name="Google Shape;551;p3"/>
          <p:cNvSpPr/>
          <p:nvPr/>
        </p:nvSpPr>
        <p:spPr>
          <a:xfrm>
            <a:off x="1510748" y="4404233"/>
            <a:ext cx="12602816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A7F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rgbClr val="BBA7F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0" i="0" u="none" strike="noStrike" cap="none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Credenciales basadas en criptografía de clave pública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endParaRPr sz="4000" b="0" i="0" u="none" strike="noStrike" cap="none">
              <a:solidFill>
                <a:srgbClr val="BBA7F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A7F1"/>
              </a:buClr>
              <a:buSzPts val="4000"/>
              <a:buFont typeface="Poppins"/>
              <a:buChar char="•"/>
            </a:pPr>
            <a:r>
              <a:rPr lang="en-US" sz="4000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000" b="0" i="0" u="none" strike="noStrike" cap="none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Funcionan con biometría o PIN del dispositivo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endParaRPr sz="4000" b="0" i="0" u="none" strike="noStrike" cap="none">
              <a:solidFill>
                <a:srgbClr val="BBA7F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A7F1"/>
              </a:buClr>
              <a:buSzPts val="4000"/>
              <a:buFont typeface="Poppins"/>
              <a:buChar char="•"/>
            </a:pPr>
            <a:r>
              <a:rPr lang="en-US" sz="4000" b="0" i="0" u="none" strike="noStrike" cap="none">
                <a:solidFill>
                  <a:srgbClr val="BBA7F1"/>
                </a:solidFill>
                <a:latin typeface="Poppins"/>
                <a:ea typeface="Poppins"/>
                <a:cs typeface="Poppins"/>
                <a:sym typeface="Poppins"/>
              </a:rPr>
              <a:t> Resistentes al phishing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BBA7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1219BDEF-A599-8F98-0D52-1B7712A1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">
            <a:extLst>
              <a:ext uri="{FF2B5EF4-FFF2-40B4-BE49-F238E27FC236}">
                <a16:creationId xmlns:a16="http://schemas.microsoft.com/office/drawing/2014/main" id="{1B7CD759-F807-1F67-53AB-864EC7A0D434}"/>
              </a:ext>
            </a:extLst>
          </p:cNvPr>
          <p:cNvSpPr/>
          <p:nvPr/>
        </p:nvSpPr>
        <p:spPr>
          <a:xfrm>
            <a:off x="1042867" y="1092194"/>
            <a:ext cx="20286507" cy="179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Poppins"/>
              <a:buNone/>
            </a:pPr>
            <a:r>
              <a:rPr lang="en-US" sz="10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¿Cómo funcionan?</a:t>
            </a: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EC8479-1712-6F10-3B9F-D9DB26502920}"/>
              </a:ext>
            </a:extLst>
          </p:cNvPr>
          <p:cNvSpPr txBox="1"/>
          <p:nvPr/>
        </p:nvSpPr>
        <p:spPr>
          <a:xfrm>
            <a:off x="1042866" y="3125740"/>
            <a:ext cx="2187185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🔐 1. Creación</a:t>
            </a:r>
          </a:p>
          <a:p>
            <a:pPr>
              <a:buNone/>
            </a:pPr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dispositivo del usuario (móvil, portátil, etc.) genera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 par de claves criptográficas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lvl="1"/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-  🔑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Clave privada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→ 	se guarda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solo en el dispositivo</a:t>
            </a:r>
          </a:p>
          <a:p>
            <a:pPr lvl="1"/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-  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🔓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Clave pública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→         se envía y almacena en el servidor del servicio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BE19C5-F254-68CD-1EE1-C53C081842AB}"/>
              </a:ext>
            </a:extLst>
          </p:cNvPr>
          <p:cNvSpPr txBox="1"/>
          <p:nvPr/>
        </p:nvSpPr>
        <p:spPr>
          <a:xfrm>
            <a:off x="1042866" y="6284067"/>
            <a:ext cx="19713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👤 2. Inicio de sesión</a:t>
            </a:r>
          </a:p>
          <a:p>
            <a:pPr>
              <a:buNone/>
            </a:pPr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El servidor envía un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desafío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al dispositivo del usuario.</a:t>
            </a:r>
          </a:p>
          <a:p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El dispositivo firma ese desafío con la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clave privada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El usuario confirma su identidad con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biometría, PIN o patrón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s-ES" sz="32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Face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ID, huella, etc.).</a:t>
            </a:r>
          </a:p>
          <a:p>
            <a:endParaRPr lang="es-E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A1EEDC8-EDF5-E569-456A-9933811FD7C7}"/>
              </a:ext>
            </a:extLst>
          </p:cNvPr>
          <p:cNvSpPr txBox="1"/>
          <p:nvPr/>
        </p:nvSpPr>
        <p:spPr>
          <a:xfrm>
            <a:off x="1042866" y="9805430"/>
            <a:ext cx="192019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✅ 3. Verificación</a:t>
            </a:r>
          </a:p>
          <a:p>
            <a:pPr>
              <a:buNone/>
            </a:pPr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servidor verifica la firma usando la 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clave pública</a:t>
            </a:r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24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"/>
          <p:cNvSpPr/>
          <p:nvPr/>
        </p:nvSpPr>
        <p:spPr>
          <a:xfrm>
            <a:off x="1053631" y="771079"/>
            <a:ext cx="11812104" cy="179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Poppins"/>
              <a:buNone/>
            </a:pPr>
            <a:r>
              <a:rPr lang="en-US" sz="10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Passkeys </a:t>
            </a:r>
            <a:r>
              <a:rPr lang="en-US" sz="100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0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.NET</a:t>
            </a:r>
            <a:endParaRPr dirty="0"/>
          </a:p>
        </p:txBody>
      </p:sp>
      <p:sp>
        <p:nvSpPr>
          <p:cNvPr id="562" name="Google Shape;562;p5"/>
          <p:cNvSpPr txBox="1"/>
          <p:nvPr/>
        </p:nvSpPr>
        <p:spPr>
          <a:xfrm>
            <a:off x="14034578" y="2999884"/>
            <a:ext cx="6366821" cy="771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{</a:t>
            </a:r>
            <a:endParaRPr sz="3200" dirty="0">
              <a:solidFill>
                <a:schemeClr val="lt1"/>
              </a:solidFill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sz="3200" b="1" dirty="0">
                <a:solidFill>
                  <a:schemeClr val="lt1"/>
                </a:solidFill>
              </a:rPr>
              <a:t>  "</a:t>
            </a:r>
            <a:r>
              <a:rPr lang="en-US" sz="3200" b="1" dirty="0" err="1">
                <a:solidFill>
                  <a:schemeClr val="lt1"/>
                </a:solidFill>
              </a:rPr>
              <a:t>AttestationObject</a:t>
            </a:r>
            <a:r>
              <a:rPr lang="en-US" sz="3200" dirty="0">
                <a:solidFill>
                  <a:schemeClr val="lt1"/>
                </a:solidFill>
              </a:rPr>
              <a:t>": “XXX”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"</a:t>
            </a:r>
            <a:r>
              <a:rPr lang="en-US" sz="3200" b="1" dirty="0" err="1">
                <a:solidFill>
                  <a:schemeClr val="lt1"/>
                </a:solidFill>
              </a:rPr>
              <a:t>ClientDataJson</a:t>
            </a:r>
            <a:r>
              <a:rPr lang="en-US" sz="3200" dirty="0">
                <a:solidFill>
                  <a:schemeClr val="lt1"/>
                </a:solidFill>
              </a:rPr>
              <a:t>": “XXX“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</a:t>
            </a:r>
            <a:r>
              <a:rPr lang="en-US" sz="3200" b="1" dirty="0">
                <a:solidFill>
                  <a:schemeClr val="lt1"/>
                </a:solidFill>
              </a:rPr>
              <a:t>“</a:t>
            </a:r>
            <a:r>
              <a:rPr lang="en-US" sz="3200" b="1" dirty="0" err="1">
                <a:solidFill>
                  <a:schemeClr val="lt1"/>
                </a:solidFill>
              </a:rPr>
              <a:t>IsBackedUp</a:t>
            </a:r>
            <a:r>
              <a:rPr lang="en-US" sz="3200" b="1" dirty="0">
                <a:solidFill>
                  <a:schemeClr val="lt1"/>
                </a:solidFill>
              </a:rPr>
              <a:t>": </a:t>
            </a:r>
            <a:r>
              <a:rPr lang="en-US" sz="3200" dirty="0">
                <a:solidFill>
                  <a:schemeClr val="lt1"/>
                </a:solidFill>
              </a:rPr>
              <a:t>true,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</a:t>
            </a:r>
            <a:r>
              <a:rPr lang="en-US" sz="3200" b="1" dirty="0">
                <a:solidFill>
                  <a:schemeClr val="lt1"/>
                </a:solidFill>
              </a:rPr>
              <a:t>"</a:t>
            </a:r>
            <a:r>
              <a:rPr lang="en-US" sz="3200" b="1" dirty="0" err="1">
                <a:solidFill>
                  <a:schemeClr val="lt1"/>
                </a:solidFill>
              </a:rPr>
              <a:t>IsBackupEligible</a:t>
            </a:r>
            <a:r>
              <a:rPr lang="en-US" sz="3200" dirty="0">
                <a:solidFill>
                  <a:schemeClr val="lt1"/>
                </a:solidFill>
              </a:rPr>
              <a:t>": true,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</a:t>
            </a:r>
            <a:r>
              <a:rPr lang="en-US" sz="3200" b="1" dirty="0">
                <a:solidFill>
                  <a:schemeClr val="lt1"/>
                </a:solidFill>
              </a:rPr>
              <a:t>"</a:t>
            </a:r>
            <a:r>
              <a:rPr lang="en-US" sz="3200" b="1" dirty="0" err="1">
                <a:solidFill>
                  <a:schemeClr val="lt1"/>
                </a:solidFill>
              </a:rPr>
              <a:t>IsUserVerified</a:t>
            </a:r>
            <a:r>
              <a:rPr lang="en-US" sz="3200" dirty="0">
                <a:solidFill>
                  <a:schemeClr val="lt1"/>
                </a:solidFill>
              </a:rPr>
              <a:t>": true,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"</a:t>
            </a:r>
            <a:r>
              <a:rPr lang="en-US" sz="3200" b="1" dirty="0">
                <a:solidFill>
                  <a:schemeClr val="lt1"/>
                </a:solidFill>
              </a:rPr>
              <a:t>Name</a:t>
            </a:r>
            <a:r>
              <a:rPr lang="en-US" sz="3200" dirty="0">
                <a:solidFill>
                  <a:schemeClr val="lt1"/>
                </a:solidFill>
              </a:rPr>
              <a:t>": "</a:t>
            </a:r>
            <a:r>
              <a:rPr lang="en-US" sz="3200" dirty="0" err="1">
                <a:solidFill>
                  <a:schemeClr val="lt1"/>
                </a:solidFill>
              </a:rPr>
              <a:t>Ejemplo</a:t>
            </a:r>
            <a:r>
              <a:rPr lang="en-US" sz="3200" dirty="0">
                <a:solidFill>
                  <a:schemeClr val="lt1"/>
                </a:solidFill>
              </a:rPr>
              <a:t>",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"</a:t>
            </a:r>
            <a:r>
              <a:rPr lang="en-US" sz="3200" b="1" dirty="0" err="1">
                <a:solidFill>
                  <a:schemeClr val="lt1"/>
                </a:solidFill>
              </a:rPr>
              <a:t>PublicKey</a:t>
            </a:r>
            <a:r>
              <a:rPr lang="en-US" sz="3200" dirty="0">
                <a:solidFill>
                  <a:schemeClr val="lt1"/>
                </a:solidFill>
              </a:rPr>
              <a:t>": XXX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"</a:t>
            </a:r>
            <a:r>
              <a:rPr lang="en-US" sz="3200" b="1" dirty="0" err="1">
                <a:solidFill>
                  <a:schemeClr val="lt1"/>
                </a:solidFill>
              </a:rPr>
              <a:t>SignCount</a:t>
            </a:r>
            <a:r>
              <a:rPr lang="en-US" sz="3200" dirty="0">
                <a:solidFill>
                  <a:schemeClr val="lt1"/>
                </a:solidFill>
              </a:rPr>
              <a:t>": 0,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"</a:t>
            </a:r>
            <a:r>
              <a:rPr lang="en-US" sz="3200" b="1" dirty="0">
                <a:solidFill>
                  <a:schemeClr val="lt1"/>
                </a:solidFill>
              </a:rPr>
              <a:t>Transports</a:t>
            </a:r>
            <a:r>
              <a:rPr lang="en-US" sz="3200" dirty="0">
                <a:solidFill>
                  <a:schemeClr val="lt1"/>
                </a:solidFill>
              </a:rPr>
              <a:t>": [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  "hybrid",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  "internal"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  ]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chemeClr val="lt1"/>
                </a:solidFill>
              </a:rPr>
              <a:t>}</a:t>
            </a:r>
            <a:endParaRPr sz="32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365176-9FBB-86CE-BCAE-5CECE9E86990}"/>
              </a:ext>
            </a:extLst>
          </p:cNvPr>
          <p:cNvSpPr txBox="1"/>
          <p:nvPr/>
        </p:nvSpPr>
        <p:spPr>
          <a:xfrm>
            <a:off x="1758828" y="2925544"/>
            <a:ext cx="7295322" cy="10187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Componentes principales</a:t>
            </a:r>
          </a:p>
          <a:p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</a:t>
            </a:r>
            <a:r>
              <a:rPr lang="es-ES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SignManager</a:t>
            </a:r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Tx/>
              <a:buChar char="-"/>
            </a:pPr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PerformPasskeyAttestationAsync</a:t>
            </a:r>
            <a:endParaRPr lang="es-E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PasskeySignInAsync</a:t>
            </a:r>
            <a:endParaRPr lang="es-E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</a:t>
            </a:r>
            <a:r>
              <a:rPr lang="es-ES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UserManager</a:t>
            </a:r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Tx/>
              <a:buChar char="-"/>
            </a:pPr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AddOrUpdatePasskeyAsync</a:t>
            </a:r>
            <a:endParaRPr lang="es-E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GetPasskeysAsync</a:t>
            </a:r>
            <a:endParaRPr lang="es-E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RemovePasskeyAsync</a:t>
            </a:r>
            <a:endParaRPr lang="es-E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</a:t>
            </a:r>
            <a:r>
              <a:rPr lang="es-ES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Blazor</a:t>
            </a:r>
            <a:r>
              <a:rPr lang="es-E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</a:t>
            </a:r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&lt;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passkey-submit</a:t>
            </a:r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/&gt;</a:t>
            </a:r>
          </a:p>
          <a:p>
            <a:pPr lvl="1"/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</a:t>
            </a:r>
            <a:r>
              <a:rPr lang="es-ES" sz="32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Format</a:t>
            </a:r>
            <a:endParaRPr lang="es-E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Credentiald</a:t>
            </a:r>
            <a:endParaRPr lang="es-E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r>
              <a:rPr lang="es-ES" sz="2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UserId</a:t>
            </a:r>
            <a:endParaRPr lang="es-E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s-E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Data</a:t>
            </a:r>
          </a:p>
          <a:p>
            <a:pPr lvl="1"/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E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"/>
          <p:cNvSpPr/>
          <p:nvPr/>
        </p:nvSpPr>
        <p:spPr>
          <a:xfrm>
            <a:off x="1042867" y="1092194"/>
            <a:ext cx="20286507" cy="179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Poppins"/>
              <a:buNone/>
            </a:pPr>
            <a:r>
              <a:rPr lang="en-US" sz="10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Demo</a:t>
            </a:r>
            <a:endParaRPr dirty="0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245EB70-2DC7-29ED-8984-FF43DA2D9F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33" b="7963"/>
          <a:stretch>
            <a:fillRect/>
          </a:stretch>
        </p:blipFill>
        <p:spPr>
          <a:xfrm>
            <a:off x="7621587" y="2212848"/>
            <a:ext cx="9144000" cy="10410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"/>
          <p:cNvSpPr txBox="1">
            <a:spLocks noGrp="1"/>
          </p:cNvSpPr>
          <p:nvPr>
            <p:ph type="body" idx="1"/>
          </p:nvPr>
        </p:nvSpPr>
        <p:spPr>
          <a:xfrm>
            <a:off x="1039108" y="6078642"/>
            <a:ext cx="7010400" cy="1289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</a:pPr>
            <a:r>
              <a:rPr lang="en-US" b="1" dirty="0" err="1">
                <a:solidFill>
                  <a:schemeClr val="lt1"/>
                </a:solidFill>
              </a:rPr>
              <a:t>Preguntas</a:t>
            </a: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8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287</Words>
  <Application>Microsoft Office PowerPoint</Application>
  <PresentationFormat>Personalizado</PresentationFormat>
  <Paragraphs>71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Calibri</vt:lpstr>
      <vt:lpstr>Arial</vt:lpstr>
      <vt:lpstr>Poppins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Illari Alvarez-Gil</cp:lastModifiedBy>
  <cp:revision>2</cp:revision>
  <dcterms:created xsi:type="dcterms:W3CDTF">2025-05-28T19:55:54Z</dcterms:created>
  <dcterms:modified xsi:type="dcterms:W3CDTF">2026-01-20T10:51:52Z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0x010100E0052F01250B3C4EA35319BECB5180E2</vt:lpwstr>
  </property>
  <property fmtid="{D5CDD505-2E9C-101B-9397-08002B2CF9AE}" pid="3" name="MediaServiceImageTags">
    <vt:lpwstr/>
  </property>
</Properties>
</file>